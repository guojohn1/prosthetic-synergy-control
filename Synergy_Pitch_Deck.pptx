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77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773"/>
                </a:solidFill>
                <a:latin typeface="Calibri"/>
              </a:rPr>
              <a:t>Joint error vs. calibration gestures (subject DB2_S1)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(24 joints)</c:v>
                </c:pt>
              </c:strCache>
            </c:strRef>
          </c:tx>
          <c:spPr>
            <a:solidFill>
              <a:srgbClr val="5B6773"/>
            </a:solidFill>
            <a:ln w="34925" cap="flat">
              <a:solidFill>
                <a:srgbClr val="5B67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773"/>
              </a:solidFill>
              <a:ln w="9525" cap="flat">
                <a:solidFill>
                  <a:srgbClr val="5B67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4</c:v>
                  </c:pt>
                  <c:pt idx="2">
                    <c:v>6</c:v>
                  </c:pt>
                  <c:pt idx="3">
                    <c:v>10</c:v>
                  </c:pt>
                  <c:pt idx="4">
                    <c:v>15</c:v>
                  </c:pt>
                  <c:pt idx="5">
                    <c:v>25</c:v>
                  </c:pt>
                  <c:pt idx="6">
                    <c:v>40</c:v>
                  </c:pt>
                  <c:pt idx="7">
                    <c:v>60</c:v>
                  </c:pt>
                  <c:pt idx="8">
                    <c:v>90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20.89</c:v>
                </c:pt>
                <c:pt idx="1">
                  <c:v>18.83</c:v>
                </c:pt>
                <c:pt idx="2">
                  <c:v>16.42</c:v>
                </c:pt>
                <c:pt idx="3">
                  <c:v>14.96</c:v>
                </c:pt>
                <c:pt idx="4">
                  <c:v>13.55</c:v>
                </c:pt>
                <c:pt idx="5">
                  <c:v>12.6</c:v>
                </c:pt>
                <c:pt idx="6">
                  <c:v>12.1</c:v>
                </c:pt>
                <c:pt idx="7">
                  <c:v>11.63</c:v>
                </c:pt>
                <c:pt idx="8">
                  <c:v>11.44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Synergy (2 numbers)</c:v>
                </c:pt>
              </c:strCache>
            </c:strRef>
          </c:tx>
          <c:spPr>
            <a:solidFill>
              <a:srgbClr val="B5433E"/>
            </a:solidFill>
            <a:ln w="34925" cap="flat">
              <a:solidFill>
                <a:srgbClr val="B543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5433E"/>
              </a:solidFill>
              <a:ln w="9525" cap="flat">
                <a:solidFill>
                  <a:srgbClr val="B543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4</c:v>
                  </c:pt>
                  <c:pt idx="2">
                    <c:v>6</c:v>
                  </c:pt>
                  <c:pt idx="3">
                    <c:v>10</c:v>
                  </c:pt>
                  <c:pt idx="4">
                    <c:v>15</c:v>
                  </c:pt>
                  <c:pt idx="5">
                    <c:v>25</c:v>
                  </c:pt>
                  <c:pt idx="6">
                    <c:v>40</c:v>
                  </c:pt>
                  <c:pt idx="7">
                    <c:v>60</c:v>
                  </c:pt>
                  <c:pt idx="8">
                    <c:v>90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19.35</c:v>
                </c:pt>
                <c:pt idx="1">
                  <c:v>16.81</c:v>
                </c:pt>
                <c:pt idx="2">
                  <c:v>15.62</c:v>
                </c:pt>
                <c:pt idx="3">
                  <c:v>14.53</c:v>
                </c:pt>
                <c:pt idx="4">
                  <c:v>13.9</c:v>
                </c:pt>
                <c:pt idx="5">
                  <c:v>13.38</c:v>
                </c:pt>
                <c:pt idx="6">
                  <c:v>13.1</c:v>
                </c:pt>
                <c:pt idx="7">
                  <c:v>12.86</c:v>
                </c:pt>
                <c:pt idx="8">
                  <c:v>12.81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calibration gestures given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10"/>
        </c:scaling>
        <c:delete val="0"/>
        <c:axPos val="l"/>
        <c:majorGridlines>
          <c:spPr>
            <a:ln w="12700" cap="flat">
              <a:solidFill>
                <a:srgbClr val="E6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joint error (deg)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7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Fixed synergy basis</c:v>
                </c:pt>
              </c:strCache>
            </c:strRef>
          </c:tx>
          <c:spPr>
            <a:solidFill>
              <a:srgbClr val="1B2A3A"/>
            </a:solidFill>
            <a:effectLst/>
          </c:spPr>
          <c:invertIfNegative val="0"/>
          <c:dLbls>
            <c:numFmt formatCode="0.0&quot;°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DB2 intact (n=3)</c:v>
                  </c:pt>
                  <c:pt idx="1">
                    <c:v>DB3 amputee (glove truth, n=1)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11.5</c:v>
                </c:pt>
                <c:pt idx="1">
                  <c:v>14.1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Adaptive (personalized)</c:v>
                </c:pt>
              </c:strCache>
            </c:strRef>
          </c:tx>
          <c:spPr>
            <a:solidFill>
              <a:srgbClr val="B5433E"/>
            </a:solidFill>
            <a:effectLst/>
          </c:spPr>
          <c:invertIfNegative val="0"/>
          <c:dLbls>
            <c:numFmt formatCode="0.0&quot;°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DB2 intact (n=3)</c:v>
                  </c:pt>
                  <c:pt idx="1">
                    <c:v>DB3 amputee (glove truth, n=1)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10.8</c:v>
                </c:pt>
                <c:pt idx="1">
                  <c:v>10.8</c:v>
                </c:pt>
              </c:numCache>
            </c:numRef>
          </c:val>
        </c:ser>
        <c:dLbls>
          <c:numFmt formatCode="0.0&quot;°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4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12700" cap="flat">
              <a:solidFill>
                <a:srgbClr val="E6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average joint error (deg)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7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PITCH — 0:00. Don't linger here; say the hook while this is up.
“A prosthetic hand has 24 joints. If you lose a hand, your arm can only send it 4 to 12 muscle signals to control all of them.”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PITCH — 0:00–0:20. Hold up your hand while saying this.
“24 joints. 4 to 12 noisy signals to run them. That's the wall — today's hands cope by cycling through preset grips, slowly, which is a big reason people stop wearing them.”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PITCH — 0:20–0:40. Show the live console/sliders here instead of this static image if possible.
“Turns out you don't need 24 signals, because real hands move in patterns. So we boiled every hand shape down to 2 numbers.”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/ REFERENCE slide — skip in the live 2-minute pitch unless asked “what's actually built?” The live demo (ghost comparison + subject switch) IS this slide, shown instead of described.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/ Q&amp;A slide. If a judge asks “does the shortcut actually help?”, this is the answer: real advantage in the low-data regime, crosses over once a user has practiced a lot — reported honestly, not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PITCH — 0:40–1:25 (THE moment). Ideally shown live via the ghost-comparison UI switching subjects, with this slide as fallback/leave-behind.
“Here's someone who's actually missing a hand — watch the gap. Now watch it close.” Say the number once: “the gap nearly disappeared.” Nothing else numeric spoken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PITCH — 1:25–1:45. One breath, no slide-reading.
“AI helped us build this fast. The judgment calls were ours — we tested our own assumption, it came in weaker than the textbook, and we said so anyway.”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PITCH — 1:45–2:00. Land this with confidence, not a hedge.
“The next step is making that recipe book adapt to each person — which we already got working this week.”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Keep the console open on a laptop for hands-on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icon_hand_steel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-118872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965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SYNERGY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2880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54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numbers. Twenty-four joints.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520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architecture for dexterous prosthetic hands — validated on real amputee EMG and motion-capture data, not just simulation.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SKANDALARIS FALL HACKATHON  ·  TEAM SYNERGY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 every prosthetic hits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5F7F9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0F16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C5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independently-movable joints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dexterous prosthetic hand</a:t>
            </a:r>
            <a:endParaRPr lang="en-US" sz="1400" dirty="0"/>
          </a:p>
        </p:txBody>
      </p:sp>
      <p:pic>
        <p:nvPicPr>
          <p:cNvPr id="6" name="Image 0" descr="/home/claude/deck/assets/icon_bolt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4600"/>
            <a:ext cx="777240" cy="777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73736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5F7F9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0F16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263640" y="19659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54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4–12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3154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muscle signals left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hand amputation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3434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prosthetics cope by 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4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mode-switching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flex in a set pattern to cycle through preset grips and pick one. It's slow and unnatural — a big reason devices get abandoned. And it gets worse for exactly the people who need it most: the more forearm that's gone, the fewer signals are left to read.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coordinate system, not the hardware</a:t>
            </a:r>
            <a:endParaRPr lang="en-US" sz="3000" dirty="0"/>
          </a:p>
        </p:txBody>
      </p:sp>
      <p:pic>
        <p:nvPicPr>
          <p:cNvPr id="3" name="Image 0" descr="/home/claude/deck/assets/icon_lightbulb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3716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joints don't move independently — they move in coordinated patterns. So every grasp compresses into just 2 numbers, using a pattern learned once from real intact hands.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6324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F5F7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signal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538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4–12 channels</a:t>
            </a:r>
            <a:endParaRPr lang="en-US" sz="950" dirty="0"/>
          </a:p>
        </p:txBody>
      </p:sp>
      <p:pic>
        <p:nvPicPr>
          <p:cNvPr id="8" name="Image 1" descr="/home/claude/deck/assets/icon_arrow_ste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319272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71800" y="306324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2C5F7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297180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numbers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063240" y="3538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synergy code</a:t>
            </a:r>
            <a:endParaRPr lang="en-US" sz="950" dirty="0"/>
          </a:p>
        </p:txBody>
      </p:sp>
      <p:pic>
        <p:nvPicPr>
          <p:cNvPr id="12" name="Image 2" descr="/home/claude/deck/assets/icon_arrow_ste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319272"/>
            <a:ext cx="365760" cy="3657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303520" y="306324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F5F7F9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530352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basis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394960" y="3538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once</a:t>
            </a:r>
            <a:endParaRPr lang="en-US" sz="950" dirty="0"/>
          </a:p>
        </p:txBody>
      </p:sp>
      <p:pic>
        <p:nvPicPr>
          <p:cNvPr id="16" name="Image 3" descr="/home/claude/deck/assets/icon_arrow_ste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319272"/>
            <a:ext cx="365760" cy="3657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635240" y="306324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B5433E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763524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joints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726680" y="3538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coordinated grasp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42519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personal decoder turns muscle signal into those 2 numbers; the frozen basis expands them back into a full, coordinated posture.</a:t>
            </a:r>
            <a:endParaRPr lang="en-US" sz="1400" dirty="0"/>
          </a:p>
        </p:txBody>
      </p:sp>
      <p:pic>
        <p:nvPicPr>
          <p:cNvPr id="21" name="Image 4" descr="/home/claude/deck/assets/gras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74920"/>
            <a:ext cx="1060704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environment, not a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5F7F9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0F1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920240"/>
            <a:ext cx="640080" cy="640080"/>
          </a:xfrm>
          <a:prstGeom prst="ellipse">
            <a:avLst/>
          </a:prstGeom>
          <a:solidFill>
            <a:srgbClr val="2C5F7C"/>
          </a:solidFill>
          <a:ln/>
        </p:spPr>
      </p:sp>
      <p:pic>
        <p:nvPicPr>
          <p:cNvPr id="5" name="Image 0" descr="/home/claude/deck/assets/icon_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74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24-DOF simulated hand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31343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hand driven live by 2 numbers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5F7F9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0F1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920240"/>
            <a:ext cx="640080" cy="640080"/>
          </a:xfrm>
          <a:prstGeom prst="ellipse">
            <a:avLst/>
          </a:prstGeom>
          <a:solidFill>
            <a:srgbClr val="2C5F7C"/>
          </a:solidFill>
          <a:ln/>
        </p:spPr>
      </p:sp>
      <p:pic>
        <p:nvPicPr>
          <p:cNvPr id="10" name="Image 1" descr="/home/claude/deck/assets/icon_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574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874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decoder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31343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forearm EMG → synergy coordinates → joint angles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5F7F9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0F16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114800"/>
            <a:ext cx="640080" cy="640080"/>
          </a:xfrm>
          <a:prstGeom prst="ellipse">
            <a:avLst/>
          </a:prstGeom>
          <a:solidFill>
            <a:srgbClr val="2C5F7C"/>
          </a:solidFill>
          <a:ln/>
        </p:spPr>
      </p:sp>
      <p:pic>
        <p:nvPicPr>
          <p:cNvPr id="15" name="Image 2" descr="/home/claude/deck/assets/icon_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51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069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Ghost-comparison UI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50799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vs. reconstructed posture, scrubbable, live error readout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7947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5F7F9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0F16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0" y="4114800"/>
            <a:ext cx="640080" cy="640080"/>
          </a:xfrm>
          <a:prstGeom prst="ellipse">
            <a:avLst/>
          </a:prstGeom>
          <a:solidFill>
            <a:srgbClr val="2C5F7C"/>
          </a:solidFill>
          <a:ln/>
        </p:spPr>
      </p:sp>
      <p:pic>
        <p:nvPicPr>
          <p:cNvPr id="20" name="Image 3" descr="/home/claude/deck/assets/icon_gradc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251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069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personalization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50799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each user's residual movement from a few calibration reps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 exactly when a new user has almost nothing to give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258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18120" y="146304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5F7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18120" y="157276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54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+7.3%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148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at just 2 practice reps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306324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5F7F9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317296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gestures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point — after that, direct pulls ahead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7091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4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 start, not a permanent edge — exactly right for someone who can only give a handful of reps at setup.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real amputee, adaptation closes the gap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EMG. Real motion-capture ground truth. Not simulated.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7040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737360"/>
            <a:ext cx="3611880" cy="2468880"/>
          </a:xfrm>
          <a:prstGeom prst="roundRect">
            <a:avLst>
              <a:gd name="adj" fmla="val 3333"/>
            </a:avLst>
          </a:prstGeom>
          <a:solidFill>
            <a:srgbClr val="14202C"/>
          </a:solidFill>
          <a:ln/>
          <a:effectLst>
            <a:outerShdw sx="100000" sy="100000" kx="0" ky="0" algn="bl" rotWithShape="0" blurRad="127000" dist="38100" dir="5400000">
              <a:srgbClr val="0A0F16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2148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14.1°  →  10.8°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9260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intact-vs-amputee gap, before and after adaptation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794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B54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GONE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452628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frozen intact-hand template never wins on amputee data at any calibration size — it misfits the residual limb. Personalizing it does what the science predicted: recovers the fine control amputation destroys.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F5F7F9"/>
          </a:solidFill>
          <a:ln w="12700">
            <a:solidFill>
              <a:srgbClr val="E1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0F1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2C5F7C"/>
          </a:solidFill>
          <a:ln/>
        </p:spPr>
      </p:sp>
      <p:pic>
        <p:nvPicPr>
          <p:cNvPr id="5" name="Image 0" descr="/home/claude/deck/assets/icon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6712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2075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accelerated the build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92608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 scaffolding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real-EMG data pipeline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scripts and the report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ghost-comparison interface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14202C"/>
          </a:solidFill>
          <a:ln/>
          <a:effectLst>
            <a:outerShdw sx="100000" sy="100000" kx="0" ky="0" algn="bl" rotWithShape="0" blurRad="127000" dist="38100" dir="5400000">
              <a:srgbClr val="0A0F1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20840" y="2011680"/>
            <a:ext cx="685800" cy="685800"/>
          </a:xfrm>
          <a:prstGeom prst="ellipse">
            <a:avLst/>
          </a:prstGeom>
          <a:solidFill>
            <a:srgbClr val="B5433E"/>
          </a:solidFill>
          <a:ln/>
        </p:spPr>
      </p:sp>
      <p:pic>
        <p:nvPicPr>
          <p:cNvPr id="10" name="Image 1" descr="/home/claude/deck/assets/icon_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16712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2075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the judgment calls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292608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61.6% instead of the flattering 84% citation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amputees who couldn't wear a glove rather than fake ground truth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adaptive fix once the fixed basis's failure mode was clear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linear decoders on purpose — calibrates in seconds, no neural net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icon_shield_steel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235440" y="-91440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005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real technical need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214884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900" b="1" dirty="0">
                <a:solidFill>
                  <a:srgbClr val="B54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frozen basis is both floor and ceiling</a:t>
            </a:r>
            <a:pPr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it's why setup takes seconds, and why it caps out. Next: </a:t>
            </a:r>
            <a:pPr indent="0" marL="0">
              <a:lnSpc>
                <a:spcPct val="14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subject-adaptive refinement</a:t>
            </a:r>
            <a:pPr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reconstruct the fine synergies amputation destroys, paired with a </a:t>
            </a:r>
            <a:pPr indent="0" marL="0">
              <a:lnSpc>
                <a:spcPct val="14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rig amputees can actually wear</a:t>
            </a:r>
            <a:pPr indent="0" marL="0">
              <a:lnSpc>
                <a:spcPct val="145000"/>
              </a:lnSpc>
              <a:buNone/>
            </a:pPr>
            <a:r>
              <a:rPr lang="en-US" sz="1900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two of our three amputee subjects couldn't use the standard glove at all.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8680" y="4572000"/>
            <a:ext cx="9052560" cy="1371600"/>
          </a:xfrm>
          <a:prstGeom prst="roundRect">
            <a:avLst>
              <a:gd name="adj" fmla="val 5333"/>
            </a:avLst>
          </a:prstGeom>
          <a:solidFill>
            <a:srgbClr val="1B2A3A"/>
          </a:solidFill>
          <a:ln w="12700">
            <a:solidFill>
              <a:srgbClr val="2E3D4C"/>
            </a:solidFill>
            <a:prstDash val="solid"/>
          </a:ln>
        </p:spPr>
      </p:sp>
      <p:pic>
        <p:nvPicPr>
          <p:cNvPr id="6" name="Image 1" descr="/home/claude/deck/assets/icon_check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8920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28800" y="48280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got the adaptive version working this week — the gap is closing, not just measured.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icon_chart_steel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961120" y="-109728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it.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54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github.com/guojohn1/prosthetic-synergy-control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regenerate from ./run_real.sh · full tables in REPORT.md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2026-08-29T17:01:38Z</dcterms:created>
  <dcterms:modified xsi:type="dcterms:W3CDTF">2026-08-29T17:01:38Z</dcterms:modified>
</cp:coreProperties>
</file>